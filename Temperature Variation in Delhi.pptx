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2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4ff6e83405_1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4ff6e83405_1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4fbcd1a03a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4fbcd1a03a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4fbcd1a03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4fbcd1a03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4ff6e83405_1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4ff6e83405_1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4db3006a3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4db3006a3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4db3006a34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4db3006a34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4ff6e83405_1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4ff6e83405_1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4db3006a34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4db3006a34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4db3006a34_0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4db3006a34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4fbcd1a03a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4fbcd1a03a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4db3006a34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4db3006a34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4ff6e83405_1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34ff6e83405_1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4db3006a34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4db3006a34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4db3006a34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34db3006a34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4ff6e83405_1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34ff6e83405_1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4f67b0105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34f67b0105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4db3006a34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4db3006a34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5117e9eeb7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35117e9eeb7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4fbcd1a03a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34fbcd1a03a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4ff6e83405_1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g34ff6e83405_1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4f67b01056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" name="Google Shape;221;g34f67b01056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4f67b01056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" name="Google Shape;229;g34f67b01056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4ff6e83405_1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" name="Google Shape;236;g34ff6e83405_1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5.png"/><Relationship Id="rId4" Type="http://schemas.openxmlformats.org/officeDocument/2006/relationships/image" Target="../media/image17.png"/><Relationship Id="rId5" Type="http://schemas.openxmlformats.org/officeDocument/2006/relationships/image" Target="../media/image2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Relationship Id="rId4" Type="http://schemas.openxmlformats.org/officeDocument/2006/relationships/image" Target="../media/image6.png"/><Relationship Id="rId5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png"/><Relationship Id="rId4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8.png"/><Relationship Id="rId4" Type="http://schemas.openxmlformats.org/officeDocument/2006/relationships/image" Target="../media/image16.png"/><Relationship Id="rId5" Type="http://schemas.openxmlformats.org/officeDocument/2006/relationships/image" Target="../media/image1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0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3.png"/><Relationship Id="rId4" Type="http://schemas.openxmlformats.org/officeDocument/2006/relationships/image" Target="../media/image2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7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2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9.png"/><Relationship Id="rId4" Type="http://schemas.openxmlformats.org/officeDocument/2006/relationships/image" Target="../media/image14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1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/>
              <a:t>Temperature V</a:t>
            </a:r>
            <a:r>
              <a:rPr lang="en" sz="4800"/>
              <a:t>ariation in Delhi</a:t>
            </a:r>
            <a:endParaRPr sz="4800"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Ivy Gu, Eric Lian, Jayden Zhou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3763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ctrTitle"/>
          </p:nvPr>
        </p:nvSpPr>
        <p:spPr>
          <a:xfrm>
            <a:off x="311700" y="1789575"/>
            <a:ext cx="8520600" cy="100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200">
                <a:solidFill>
                  <a:schemeClr val="lt1"/>
                </a:solidFill>
              </a:rPr>
              <a:t>Dataset Overview</a:t>
            </a:r>
            <a:endParaRPr sz="4200">
              <a:solidFill>
                <a:schemeClr val="lt1"/>
              </a:solidFill>
            </a:endParaRPr>
          </a:p>
        </p:txBody>
      </p:sp>
      <p:sp>
        <p:nvSpPr>
          <p:cNvPr id="61" name="Google Shape;61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-"/>
            </a:pPr>
            <a:r>
              <a:rPr lang="en" sz="1400">
                <a:solidFill>
                  <a:schemeClr val="lt2"/>
                </a:solidFill>
              </a:rPr>
              <a:t>What is the goal of our project</a:t>
            </a:r>
            <a:endParaRPr sz="1400">
              <a:solidFill>
                <a:schemeClr val="lt2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-"/>
            </a:pPr>
            <a:r>
              <a:rPr lang="en" sz="1400">
                <a:solidFill>
                  <a:schemeClr val="lt2"/>
                </a:solidFill>
              </a:rPr>
              <a:t>How our dataset looks like</a:t>
            </a:r>
            <a:endParaRPr sz="1400">
              <a:solidFill>
                <a:schemeClr val="lt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500"/>
              <a:t>Dataset Overview</a:t>
            </a:r>
            <a:endParaRPr sz="2500"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311700" y="1152475"/>
            <a:ext cx="2538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Area</a:t>
            </a:r>
            <a:r>
              <a:rPr lang="en"/>
              <a:t> </a:t>
            </a:r>
            <a:r>
              <a:rPr lang="en"/>
              <a:t>Delhi, India</a:t>
            </a:r>
            <a:endParaRPr/>
          </a:p>
        </p:txBody>
      </p:sp>
      <p:sp>
        <p:nvSpPr>
          <p:cNvPr id="69" name="Google Shape;69;p15"/>
          <p:cNvSpPr txBox="1"/>
          <p:nvPr>
            <p:ph idx="1" type="body"/>
          </p:nvPr>
        </p:nvSpPr>
        <p:spPr>
          <a:xfrm>
            <a:off x="3285675" y="1152475"/>
            <a:ext cx="3009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Motivation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Monsoon climate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Delhi features a dry winter humid subtropical climate bordering a hot semi-arid climate</a:t>
            </a:r>
            <a:endParaRPr/>
          </a:p>
        </p:txBody>
      </p:sp>
      <p:sp>
        <p:nvSpPr>
          <p:cNvPr id="70" name="Google Shape;70;p15"/>
          <p:cNvSpPr txBox="1"/>
          <p:nvPr>
            <p:ph idx="1" type="body"/>
          </p:nvPr>
        </p:nvSpPr>
        <p:spPr>
          <a:xfrm>
            <a:off x="6134400" y="1152475"/>
            <a:ext cx="3009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Goal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Find best fitted model for the temperature variation in Delhi</a:t>
            </a:r>
            <a:endParaRPr/>
          </a:p>
        </p:txBody>
      </p:sp>
      <p:pic>
        <p:nvPicPr>
          <p:cNvPr id="71" name="Google Shape;71;p15" title="Screenshot 2025-04-23 at 10.15.26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697" y="1569650"/>
            <a:ext cx="2538554" cy="33158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500"/>
              <a:t>Dataset Overview</a:t>
            </a:r>
            <a:endParaRPr sz="2500"/>
          </a:p>
        </p:txBody>
      </p:sp>
      <p:sp>
        <p:nvSpPr>
          <p:cNvPr id="77" name="Google Shape;7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8" name="Google Shape;78;p16" title="Screenshot 2025-04-23 at 10.05.23 PM.png"/>
          <p:cNvPicPr preferRelativeResize="0"/>
          <p:nvPr/>
        </p:nvPicPr>
        <p:blipFill rotWithShape="1">
          <a:blip r:embed="rId3">
            <a:alphaModFix/>
          </a:blip>
          <a:srcRect b="46994" l="941" r="0" t="0"/>
          <a:stretch/>
        </p:blipFill>
        <p:spPr>
          <a:xfrm>
            <a:off x="361925" y="1152475"/>
            <a:ext cx="5281825" cy="1457801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6" title="Screenshot 2025-04-23 at 10.05.23 PM.png"/>
          <p:cNvPicPr preferRelativeResize="0"/>
          <p:nvPr/>
        </p:nvPicPr>
        <p:blipFill rotWithShape="1">
          <a:blip r:embed="rId3">
            <a:alphaModFix/>
          </a:blip>
          <a:srcRect b="0" l="1499" r="70472" t="53499"/>
          <a:stretch/>
        </p:blipFill>
        <p:spPr>
          <a:xfrm>
            <a:off x="5719950" y="1307575"/>
            <a:ext cx="1494498" cy="12789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6"/>
          <p:cNvSpPr txBox="1"/>
          <p:nvPr>
            <p:ph idx="1" type="body"/>
          </p:nvPr>
        </p:nvSpPr>
        <p:spPr>
          <a:xfrm>
            <a:off x="311700" y="2889775"/>
            <a:ext cx="4393500" cy="178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b="1" lang="en">
                <a:solidFill>
                  <a:schemeClr val="dk1"/>
                </a:solidFill>
              </a:rPr>
              <a:t>Sample size</a:t>
            </a:r>
            <a:r>
              <a:rPr lang="en">
                <a:solidFill>
                  <a:schemeClr val="dk1"/>
                </a:solidFill>
              </a:rPr>
              <a:t>: 1462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b="1" lang="en">
                <a:solidFill>
                  <a:schemeClr val="dk1"/>
                </a:solidFill>
              </a:rPr>
              <a:t>Response</a:t>
            </a:r>
            <a:r>
              <a:rPr lang="en">
                <a:solidFill>
                  <a:schemeClr val="dk1"/>
                </a:solidFill>
              </a:rPr>
              <a:t>: Mean temperature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b="1" lang="en">
                <a:solidFill>
                  <a:schemeClr val="dk1"/>
                </a:solidFill>
              </a:rPr>
              <a:t>Predictors</a:t>
            </a:r>
            <a:r>
              <a:rPr lang="en">
                <a:solidFill>
                  <a:schemeClr val="dk1"/>
                </a:solidFill>
              </a:rPr>
              <a:t>: Humidity(%), Wind speed(kmph), Mean pressure(</a:t>
            </a:r>
            <a:r>
              <a:rPr lang="en">
                <a:solidFill>
                  <a:schemeClr val="dk1"/>
                </a:solidFill>
              </a:rPr>
              <a:t>hPa</a:t>
            </a:r>
            <a:r>
              <a:rPr lang="en">
                <a:solidFill>
                  <a:schemeClr val="dk1"/>
                </a:solidFill>
              </a:rPr>
              <a:t>)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b="1" lang="en">
                <a:solidFill>
                  <a:schemeClr val="dk1"/>
                </a:solidFill>
              </a:rPr>
              <a:t>Date</a:t>
            </a:r>
            <a:r>
              <a:rPr lang="en">
                <a:solidFill>
                  <a:schemeClr val="dk1"/>
                </a:solidFill>
              </a:rPr>
              <a:t>: Year-Month-Day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81" name="Google Shape;81;p16" title="Screenshot 2025-04-23 at 10.24.56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64200" y="2745025"/>
            <a:ext cx="2925910" cy="1028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16" title="Screenshot 2025-04-23 at 10.25.27 PM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64199" y="3832000"/>
            <a:ext cx="3239766" cy="1028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3763"/>
        </a:solid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7"/>
          <p:cNvSpPr txBox="1"/>
          <p:nvPr>
            <p:ph type="ctrTitle"/>
          </p:nvPr>
        </p:nvSpPr>
        <p:spPr>
          <a:xfrm>
            <a:off x="311700" y="1789575"/>
            <a:ext cx="8520600" cy="100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200">
                <a:solidFill>
                  <a:schemeClr val="lt1"/>
                </a:solidFill>
              </a:rPr>
              <a:t>Data Preprocessing</a:t>
            </a:r>
            <a:endParaRPr sz="4200">
              <a:solidFill>
                <a:schemeClr val="lt1"/>
              </a:solidFill>
            </a:endParaRPr>
          </a:p>
        </p:txBody>
      </p:sp>
      <p:sp>
        <p:nvSpPr>
          <p:cNvPr id="88" name="Google Shape;88;p17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-"/>
            </a:pPr>
            <a:r>
              <a:rPr lang="en" sz="1400">
                <a:solidFill>
                  <a:schemeClr val="lt2"/>
                </a:solidFill>
              </a:rPr>
              <a:t>Data cleaning</a:t>
            </a:r>
            <a:endParaRPr sz="1400">
              <a:solidFill>
                <a:schemeClr val="lt2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-"/>
            </a:pPr>
            <a:r>
              <a:rPr lang="en" sz="1400">
                <a:solidFill>
                  <a:schemeClr val="lt2"/>
                </a:solidFill>
              </a:rPr>
              <a:t>Variables selection and checking</a:t>
            </a:r>
            <a:endParaRPr sz="1400">
              <a:solidFill>
                <a:schemeClr val="lt2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500"/>
              <a:t>Data Cleaning </a:t>
            </a:r>
            <a:endParaRPr sz="2500"/>
          </a:p>
        </p:txBody>
      </p:sp>
      <p:sp>
        <p:nvSpPr>
          <p:cNvPr id="94" name="Google Shape;94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b="1" lang="en"/>
              <a:t>IQR</a:t>
            </a:r>
            <a:r>
              <a:rPr lang="en"/>
              <a:t> → outliers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b="1" lang="en"/>
              <a:t>Remove</a:t>
            </a:r>
            <a:r>
              <a:rPr lang="en"/>
              <a:t> 43 outliers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b="1" lang="en"/>
              <a:t>Groupby</a:t>
            </a:r>
            <a:r>
              <a:rPr lang="en"/>
              <a:t> into Months for more clear climate pattern in Delhi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5" name="Google Shape;95;p18" title="截屏2025-04-22 11.15.4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80200" y="2249100"/>
            <a:ext cx="5909300" cy="2396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Histogram for Each Predictor</a:t>
            </a:r>
            <a:endParaRPr sz="2500"/>
          </a:p>
        </p:txBody>
      </p:sp>
      <p:sp>
        <p:nvSpPr>
          <p:cNvPr id="101" name="Google Shape;101;p19"/>
          <p:cNvSpPr txBox="1"/>
          <p:nvPr>
            <p:ph idx="1" type="body"/>
          </p:nvPr>
        </p:nvSpPr>
        <p:spPr>
          <a:xfrm>
            <a:off x="311700" y="3176575"/>
            <a:ext cx="8520600" cy="174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Distribution feature: approximately normal distributed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Conclusion: use original dataset for the regression model fitting</a:t>
            </a:r>
            <a:endParaRPr/>
          </a:p>
        </p:txBody>
      </p:sp>
      <p:grpSp>
        <p:nvGrpSpPr>
          <p:cNvPr id="102" name="Google Shape;102;p19"/>
          <p:cNvGrpSpPr/>
          <p:nvPr/>
        </p:nvGrpSpPr>
        <p:grpSpPr>
          <a:xfrm>
            <a:off x="351587" y="1201213"/>
            <a:ext cx="8440827" cy="1975363"/>
            <a:chOff x="311700" y="1909138"/>
            <a:chExt cx="8440827" cy="1975363"/>
          </a:xfrm>
        </p:grpSpPr>
        <p:pic>
          <p:nvPicPr>
            <p:cNvPr id="103" name="Google Shape;103;p1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11700" y="1909138"/>
              <a:ext cx="2830500" cy="174796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4" name="Google Shape;104;p1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3037350" y="1915029"/>
              <a:ext cx="2830500" cy="174796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5" name="Google Shape;105;p1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5652000" y="1969775"/>
              <a:ext cx="3100526" cy="191472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3763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0"/>
          <p:cNvSpPr txBox="1"/>
          <p:nvPr>
            <p:ph type="ctrTitle"/>
          </p:nvPr>
        </p:nvSpPr>
        <p:spPr>
          <a:xfrm>
            <a:off x="311700" y="1789575"/>
            <a:ext cx="8520600" cy="100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200">
                <a:solidFill>
                  <a:schemeClr val="lt1"/>
                </a:solidFill>
              </a:rPr>
              <a:t>Simple </a:t>
            </a:r>
            <a:r>
              <a:rPr lang="en" sz="4200">
                <a:solidFill>
                  <a:schemeClr val="lt1"/>
                </a:solidFill>
              </a:rPr>
              <a:t>Model Diagnostics</a:t>
            </a:r>
            <a:endParaRPr sz="4200">
              <a:solidFill>
                <a:schemeClr val="lt1"/>
              </a:solidFill>
            </a:endParaRPr>
          </a:p>
        </p:txBody>
      </p:sp>
      <p:sp>
        <p:nvSpPr>
          <p:cNvPr id="111" name="Google Shape;111;p20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lt2"/>
                </a:solidFill>
              </a:rPr>
              <a:t>Checking possible issue with the original dataset with regression model</a:t>
            </a:r>
            <a:endParaRPr sz="1400">
              <a:solidFill>
                <a:schemeClr val="lt2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Collinearity Check</a:t>
            </a:r>
            <a:endParaRPr sz="2500"/>
          </a:p>
        </p:txBody>
      </p:sp>
      <p:sp>
        <p:nvSpPr>
          <p:cNvPr id="117" name="Google Shape;117;p21"/>
          <p:cNvSpPr txBox="1"/>
          <p:nvPr>
            <p:ph idx="1" type="body"/>
          </p:nvPr>
        </p:nvSpPr>
        <p:spPr>
          <a:xfrm>
            <a:off x="311700" y="1151063"/>
            <a:ext cx="8520600" cy="37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SzPts val="770"/>
              <a:buNone/>
            </a:pPr>
            <a:r>
              <a:rPr b="1" lang="en" sz="1560"/>
              <a:t>VIF</a:t>
            </a:r>
            <a:r>
              <a:rPr lang="en" sz="1560"/>
              <a:t> check: all smaller than 10 -&gt; no collinearity problem</a:t>
            </a:r>
            <a:endParaRPr sz="1560"/>
          </a:p>
        </p:txBody>
      </p:sp>
      <p:pic>
        <p:nvPicPr>
          <p:cNvPr id="118" name="Google Shape;118;p21" title="截屏2025-04-22 11.55.4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611488"/>
            <a:ext cx="6419850" cy="1123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21" title="截屏2025-04-22 11.59.1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688" y="3346188"/>
            <a:ext cx="4039075" cy="64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21"/>
          <p:cNvSpPr txBox="1"/>
          <p:nvPr>
            <p:ph idx="1" type="body"/>
          </p:nvPr>
        </p:nvSpPr>
        <p:spPr>
          <a:xfrm>
            <a:off x="311700" y="2764075"/>
            <a:ext cx="8520600" cy="37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SzPts val="770"/>
              <a:buNone/>
            </a:pPr>
            <a:r>
              <a:rPr b="1" lang="en" sz="1560"/>
              <a:t>Condition number</a:t>
            </a:r>
            <a:r>
              <a:rPr lang="en" sz="1560"/>
              <a:t> check: 2.822880 &lt; 30 -&gt; no collinearity problem</a:t>
            </a:r>
            <a:endParaRPr sz="156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500"/>
              <a:t>Model Diagnostics lm(avg_temp ~.) </a:t>
            </a:r>
            <a:endParaRPr sz="2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500"/>
          </a:p>
        </p:txBody>
      </p:sp>
      <p:sp>
        <p:nvSpPr>
          <p:cNvPr id="126" name="Google Shape;126;p22"/>
          <p:cNvSpPr txBox="1"/>
          <p:nvPr>
            <p:ph idx="1" type="body"/>
          </p:nvPr>
        </p:nvSpPr>
        <p:spPr>
          <a:xfrm>
            <a:off x="189125" y="1268613"/>
            <a:ext cx="4797300" cy="51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Residual Plot </a:t>
            </a:r>
            <a:r>
              <a:rPr b="1" lang="en" sz="1500"/>
              <a:t>: </a:t>
            </a:r>
            <a:r>
              <a:rPr lang="en" sz="1500"/>
              <a:t>Convex</a:t>
            </a:r>
            <a:r>
              <a:rPr lang="en" sz="1500"/>
              <a:t>→ </a:t>
            </a:r>
            <a:r>
              <a:rPr lang="en" sz="1500"/>
              <a:t>possible </a:t>
            </a:r>
            <a:r>
              <a:rPr lang="en" sz="1500"/>
              <a:t>nonlinearity</a:t>
            </a:r>
            <a:endParaRPr sz="1500"/>
          </a:p>
        </p:txBody>
      </p:sp>
      <p:pic>
        <p:nvPicPr>
          <p:cNvPr id="127" name="Google Shape;127;p22"/>
          <p:cNvPicPr preferRelativeResize="0"/>
          <p:nvPr/>
        </p:nvPicPr>
        <p:blipFill rotWithShape="1">
          <a:blip r:embed="rId3">
            <a:alphaModFix/>
          </a:blip>
          <a:srcRect b="0" l="0" r="3512" t="11055"/>
          <a:stretch/>
        </p:blipFill>
        <p:spPr>
          <a:xfrm>
            <a:off x="311700" y="2035200"/>
            <a:ext cx="4260302" cy="2426377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22"/>
          <p:cNvSpPr txBox="1"/>
          <p:nvPr>
            <p:ph idx="1" type="body"/>
          </p:nvPr>
        </p:nvSpPr>
        <p:spPr>
          <a:xfrm>
            <a:off x="4614900" y="1268613"/>
            <a:ext cx="4260300" cy="51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Q-Q</a:t>
            </a:r>
            <a:r>
              <a:rPr b="1" lang="en" sz="1500">
                <a:solidFill>
                  <a:schemeClr val="dk1"/>
                </a:solidFill>
              </a:rPr>
              <a:t> Plot</a:t>
            </a:r>
            <a:r>
              <a:rPr lang="en" sz="1500">
                <a:solidFill>
                  <a:schemeClr val="dk1"/>
                </a:solidFill>
              </a:rPr>
              <a:t> </a:t>
            </a:r>
            <a:r>
              <a:rPr lang="en" sz="1500"/>
              <a:t>: possible </a:t>
            </a:r>
            <a:r>
              <a:rPr lang="en" sz="1500"/>
              <a:t>normality issue</a:t>
            </a:r>
            <a:endParaRPr sz="1500"/>
          </a:p>
        </p:txBody>
      </p:sp>
      <p:pic>
        <p:nvPicPr>
          <p:cNvPr id="129" name="Google Shape;129;p22"/>
          <p:cNvPicPr preferRelativeResize="0"/>
          <p:nvPr/>
        </p:nvPicPr>
        <p:blipFill rotWithShape="1">
          <a:blip r:embed="rId4">
            <a:alphaModFix/>
          </a:blip>
          <a:srcRect b="0" l="0" r="0" t="11126"/>
          <a:stretch/>
        </p:blipFill>
        <p:spPr>
          <a:xfrm>
            <a:off x="4611450" y="2035199"/>
            <a:ext cx="4267200" cy="2343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500"/>
              <a:t>Model Diagnostics </a:t>
            </a:r>
            <a:r>
              <a:rPr lang="en" sz="2500"/>
              <a:t>lm(avg_temp ~.) </a:t>
            </a:r>
            <a:endParaRPr sz="2500"/>
          </a:p>
        </p:txBody>
      </p:sp>
      <p:sp>
        <p:nvSpPr>
          <p:cNvPr id="135" name="Google Shape;135;p23"/>
          <p:cNvSpPr txBox="1"/>
          <p:nvPr>
            <p:ph idx="1" type="body"/>
          </p:nvPr>
        </p:nvSpPr>
        <p:spPr>
          <a:xfrm>
            <a:off x="311700" y="1266075"/>
            <a:ext cx="4260300" cy="51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Possibly no </a:t>
            </a:r>
            <a:r>
              <a:rPr b="1" lang="en" sz="1500">
                <a:solidFill>
                  <a:schemeClr val="dk1"/>
                </a:solidFill>
              </a:rPr>
              <a:t>non-constant variance</a:t>
            </a:r>
            <a:r>
              <a:rPr lang="en" sz="1500">
                <a:solidFill>
                  <a:schemeClr val="dk1"/>
                </a:solidFill>
              </a:rPr>
              <a:t> issue</a:t>
            </a:r>
            <a:endParaRPr sz="1500">
              <a:solidFill>
                <a:schemeClr val="dk1"/>
              </a:solidFill>
            </a:endParaRPr>
          </a:p>
        </p:txBody>
      </p:sp>
      <p:sp>
        <p:nvSpPr>
          <p:cNvPr id="136" name="Google Shape;136;p23"/>
          <p:cNvSpPr txBox="1"/>
          <p:nvPr>
            <p:ph idx="1" type="body"/>
          </p:nvPr>
        </p:nvSpPr>
        <p:spPr>
          <a:xfrm>
            <a:off x="4614900" y="1266075"/>
            <a:ext cx="4260300" cy="51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No </a:t>
            </a:r>
            <a:r>
              <a:rPr b="1" lang="en" sz="1500">
                <a:solidFill>
                  <a:schemeClr val="dk1"/>
                </a:solidFill>
              </a:rPr>
              <a:t>influential</a:t>
            </a:r>
            <a:r>
              <a:rPr lang="en" sz="1500">
                <a:solidFill>
                  <a:schemeClr val="dk1"/>
                </a:solidFill>
              </a:rPr>
              <a:t> point</a:t>
            </a:r>
            <a:endParaRPr sz="1500">
              <a:solidFill>
                <a:schemeClr val="dk1"/>
              </a:solidFill>
            </a:endParaRPr>
          </a:p>
        </p:txBody>
      </p:sp>
      <p:pic>
        <p:nvPicPr>
          <p:cNvPr id="137" name="Google Shape;137;p23"/>
          <p:cNvPicPr preferRelativeResize="0"/>
          <p:nvPr/>
        </p:nvPicPr>
        <p:blipFill rotWithShape="1">
          <a:blip r:embed="rId3">
            <a:alphaModFix/>
          </a:blip>
          <a:srcRect b="0" l="0" r="4269" t="12049"/>
          <a:stretch/>
        </p:blipFill>
        <p:spPr>
          <a:xfrm>
            <a:off x="311700" y="1917400"/>
            <a:ext cx="4303201" cy="2426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23"/>
          <p:cNvPicPr preferRelativeResize="0"/>
          <p:nvPr/>
        </p:nvPicPr>
        <p:blipFill rotWithShape="1">
          <a:blip r:embed="rId4">
            <a:alphaModFix/>
          </a:blip>
          <a:srcRect b="0" l="0" r="1642" t="10570"/>
          <a:stretch/>
        </p:blipFill>
        <p:spPr>
          <a:xfrm>
            <a:off x="4767300" y="1917400"/>
            <a:ext cx="4260302" cy="23934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Model Diagnostics </a:t>
            </a:r>
            <a:r>
              <a:rPr lang="en" sz="2500"/>
              <a:t>lm(avg_</a:t>
            </a:r>
            <a:r>
              <a:rPr lang="en" sz="2500"/>
              <a:t>temp</a:t>
            </a:r>
            <a:r>
              <a:rPr lang="en" sz="2500"/>
              <a:t> ~.) </a:t>
            </a:r>
            <a:endParaRPr sz="2500"/>
          </a:p>
        </p:txBody>
      </p:sp>
      <p:pic>
        <p:nvPicPr>
          <p:cNvPr id="144" name="Google Shape;144;p24" title="截屏2025-04-22 11.12.30.png"/>
          <p:cNvPicPr preferRelativeResize="0"/>
          <p:nvPr/>
        </p:nvPicPr>
        <p:blipFill rotWithShape="1">
          <a:blip r:embed="rId3">
            <a:alphaModFix/>
          </a:blip>
          <a:srcRect b="0" l="0" r="0" t="57343"/>
          <a:stretch/>
        </p:blipFill>
        <p:spPr>
          <a:xfrm>
            <a:off x="311700" y="2511611"/>
            <a:ext cx="3428401" cy="57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24" title="截屏2025-04-22 11.20.38.png"/>
          <p:cNvPicPr preferRelativeResize="0"/>
          <p:nvPr/>
        </p:nvPicPr>
        <p:blipFill rotWithShape="1">
          <a:blip r:embed="rId4">
            <a:alphaModFix/>
          </a:blip>
          <a:srcRect b="0" l="0" r="0" t="60992"/>
          <a:stretch/>
        </p:blipFill>
        <p:spPr>
          <a:xfrm>
            <a:off x="311700" y="1489625"/>
            <a:ext cx="3428400" cy="530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24" title="截屏2025-04-21 18.52.52.png"/>
          <p:cNvPicPr preferRelativeResize="0"/>
          <p:nvPr/>
        </p:nvPicPr>
        <p:blipFill rotWithShape="1">
          <a:blip r:embed="rId5">
            <a:alphaModFix/>
          </a:blip>
          <a:srcRect b="0" l="0" r="5873" t="23751"/>
          <a:stretch/>
        </p:blipFill>
        <p:spPr>
          <a:xfrm>
            <a:off x="311700" y="3575950"/>
            <a:ext cx="3898200" cy="89135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24"/>
          <p:cNvSpPr txBox="1"/>
          <p:nvPr>
            <p:ph idx="1" type="body"/>
          </p:nvPr>
        </p:nvSpPr>
        <p:spPr>
          <a:xfrm>
            <a:off x="311700" y="1017725"/>
            <a:ext cx="3898200" cy="47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1500">
                <a:solidFill>
                  <a:srgbClr val="073763"/>
                </a:solidFill>
              </a:rPr>
              <a:t>bptest:</a:t>
            </a:r>
            <a:endParaRPr b="1" sz="1500">
              <a:solidFill>
                <a:srgbClr val="073763"/>
              </a:solidFill>
            </a:endParaRPr>
          </a:p>
        </p:txBody>
      </p:sp>
      <p:sp>
        <p:nvSpPr>
          <p:cNvPr id="148" name="Google Shape;148;p24"/>
          <p:cNvSpPr txBox="1"/>
          <p:nvPr>
            <p:ph idx="1" type="body"/>
          </p:nvPr>
        </p:nvSpPr>
        <p:spPr>
          <a:xfrm>
            <a:off x="311700" y="2019950"/>
            <a:ext cx="3898200" cy="47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1500">
                <a:solidFill>
                  <a:srgbClr val="073763"/>
                </a:solidFill>
              </a:rPr>
              <a:t>swtest:</a:t>
            </a:r>
            <a:endParaRPr b="1" sz="1500">
              <a:solidFill>
                <a:srgbClr val="073763"/>
              </a:solidFill>
            </a:endParaRPr>
          </a:p>
        </p:txBody>
      </p:sp>
      <p:sp>
        <p:nvSpPr>
          <p:cNvPr id="149" name="Google Shape;149;p24"/>
          <p:cNvSpPr txBox="1"/>
          <p:nvPr>
            <p:ph idx="1" type="body"/>
          </p:nvPr>
        </p:nvSpPr>
        <p:spPr>
          <a:xfrm>
            <a:off x="311700" y="3166350"/>
            <a:ext cx="3898200" cy="47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1500">
                <a:solidFill>
                  <a:srgbClr val="073763"/>
                </a:solidFill>
              </a:rPr>
              <a:t>dwtest:</a:t>
            </a:r>
            <a:endParaRPr b="1" sz="1500">
              <a:solidFill>
                <a:srgbClr val="073763"/>
              </a:solidFill>
            </a:endParaRPr>
          </a:p>
        </p:txBody>
      </p:sp>
      <p:sp>
        <p:nvSpPr>
          <p:cNvPr id="150" name="Google Shape;150;p24"/>
          <p:cNvSpPr txBox="1"/>
          <p:nvPr>
            <p:ph idx="1" type="body"/>
          </p:nvPr>
        </p:nvSpPr>
        <p:spPr>
          <a:xfrm>
            <a:off x="4572000" y="1518825"/>
            <a:ext cx="3898200" cy="47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1500">
                <a:solidFill>
                  <a:srgbClr val="073763"/>
                </a:solidFill>
              </a:rPr>
              <a:t>No non-constant variance</a:t>
            </a:r>
            <a:r>
              <a:rPr lang="en" sz="1500">
                <a:solidFill>
                  <a:srgbClr val="073763"/>
                </a:solidFill>
              </a:rPr>
              <a:t> issue</a:t>
            </a:r>
            <a:endParaRPr sz="1500">
              <a:solidFill>
                <a:srgbClr val="073763"/>
              </a:solidFill>
            </a:endParaRPr>
          </a:p>
        </p:txBody>
      </p:sp>
      <p:sp>
        <p:nvSpPr>
          <p:cNvPr id="151" name="Google Shape;151;p24"/>
          <p:cNvSpPr txBox="1"/>
          <p:nvPr>
            <p:ph idx="1" type="body"/>
          </p:nvPr>
        </p:nvSpPr>
        <p:spPr>
          <a:xfrm>
            <a:off x="4572000" y="2562000"/>
            <a:ext cx="3898200" cy="47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1500">
                <a:solidFill>
                  <a:srgbClr val="073763"/>
                </a:solidFill>
              </a:rPr>
              <a:t>No normality</a:t>
            </a:r>
            <a:r>
              <a:rPr lang="en" sz="1500">
                <a:solidFill>
                  <a:srgbClr val="073763"/>
                </a:solidFill>
              </a:rPr>
              <a:t> issue</a:t>
            </a:r>
            <a:endParaRPr sz="1500">
              <a:solidFill>
                <a:srgbClr val="073763"/>
              </a:solidFill>
            </a:endParaRPr>
          </a:p>
        </p:txBody>
      </p:sp>
      <p:sp>
        <p:nvSpPr>
          <p:cNvPr id="152" name="Google Shape;152;p24"/>
          <p:cNvSpPr txBox="1"/>
          <p:nvPr>
            <p:ph idx="1" type="body"/>
          </p:nvPr>
        </p:nvSpPr>
        <p:spPr>
          <a:xfrm>
            <a:off x="4572000" y="3785675"/>
            <a:ext cx="3898200" cy="47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1500">
                <a:solidFill>
                  <a:srgbClr val="073763"/>
                </a:solidFill>
              </a:rPr>
              <a:t>Auto-correlation</a:t>
            </a:r>
            <a:r>
              <a:rPr lang="en" sz="1500">
                <a:solidFill>
                  <a:srgbClr val="073763"/>
                </a:solidFill>
              </a:rPr>
              <a:t> issue</a:t>
            </a:r>
            <a:endParaRPr sz="1500">
              <a:solidFill>
                <a:srgbClr val="073763"/>
              </a:solidFill>
            </a:endParaRPr>
          </a:p>
        </p:txBody>
      </p:sp>
      <p:sp>
        <p:nvSpPr>
          <p:cNvPr id="153" name="Google Shape;153;p24"/>
          <p:cNvSpPr/>
          <p:nvPr/>
        </p:nvSpPr>
        <p:spPr>
          <a:xfrm>
            <a:off x="2131400" y="1692572"/>
            <a:ext cx="1481700" cy="2211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24"/>
          <p:cNvSpPr/>
          <p:nvPr/>
        </p:nvSpPr>
        <p:spPr>
          <a:xfrm>
            <a:off x="1428325" y="2812797"/>
            <a:ext cx="1481700" cy="2211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24"/>
          <p:cNvSpPr/>
          <p:nvPr/>
        </p:nvSpPr>
        <p:spPr>
          <a:xfrm>
            <a:off x="1078000" y="4036474"/>
            <a:ext cx="1291500" cy="1785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3763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5"/>
          <p:cNvSpPr txBox="1"/>
          <p:nvPr>
            <p:ph type="ctrTitle"/>
          </p:nvPr>
        </p:nvSpPr>
        <p:spPr>
          <a:xfrm>
            <a:off x="311700" y="1789575"/>
            <a:ext cx="8520600" cy="100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200">
                <a:solidFill>
                  <a:schemeClr val="lt1"/>
                </a:solidFill>
              </a:rPr>
              <a:t>GLS Model</a:t>
            </a:r>
            <a:endParaRPr sz="4200">
              <a:solidFill>
                <a:schemeClr val="lt1"/>
              </a:solidFill>
            </a:endParaRPr>
          </a:p>
        </p:txBody>
      </p:sp>
      <p:sp>
        <p:nvSpPr>
          <p:cNvPr id="161" name="Google Shape;161;p2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lt2"/>
                </a:solidFill>
              </a:rPr>
              <a:t>Fitting GLS with AR1 model structure </a:t>
            </a:r>
            <a:endParaRPr sz="1400">
              <a:solidFill>
                <a:schemeClr val="lt2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500"/>
              <a:t>Autocorrelation</a:t>
            </a:r>
            <a:r>
              <a:rPr lang="en" sz="2500"/>
              <a:t>: Residuals vs. Time</a:t>
            </a:r>
            <a:endParaRPr sz="2500"/>
          </a:p>
        </p:txBody>
      </p:sp>
      <p:sp>
        <p:nvSpPr>
          <p:cNvPr id="167" name="Google Shape;167;p26"/>
          <p:cNvSpPr txBox="1"/>
          <p:nvPr>
            <p:ph idx="1" type="body"/>
          </p:nvPr>
        </p:nvSpPr>
        <p:spPr>
          <a:xfrm>
            <a:off x="5768475" y="1152475"/>
            <a:ext cx="306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Patterns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>
                <a:solidFill>
                  <a:schemeClr val="dk1"/>
                </a:solidFill>
              </a:rPr>
              <a:t>Yearly regression pattern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68" name="Google Shape;168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209863"/>
            <a:ext cx="5346349" cy="33016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Autocorrelation: </a:t>
            </a:r>
            <a:r>
              <a:rPr lang="en" sz="2500"/>
              <a:t>AR(1) Structure</a:t>
            </a:r>
            <a:endParaRPr sz="2500"/>
          </a:p>
        </p:txBody>
      </p:sp>
      <p:sp>
        <p:nvSpPr>
          <p:cNvPr id="174" name="Google Shape;174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>
                <a:solidFill>
                  <a:schemeClr val="dk1"/>
                </a:solidFill>
              </a:rPr>
              <a:t>The interval does not capture 0 → AR(1) 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75" name="Google Shape;175;p27" title="截屏2025-04-21 18.55.4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5375" y="1779300"/>
            <a:ext cx="5029200" cy="1238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3763"/>
        </a:solidFill>
      </p:bgPr>
    </p:bg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8"/>
          <p:cNvSpPr txBox="1"/>
          <p:nvPr>
            <p:ph type="ctrTitle"/>
          </p:nvPr>
        </p:nvSpPr>
        <p:spPr>
          <a:xfrm>
            <a:off x="311700" y="1789575"/>
            <a:ext cx="8520600" cy="100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200">
                <a:solidFill>
                  <a:schemeClr val="lt1"/>
                </a:solidFill>
              </a:rPr>
              <a:t>Model With Dummy Variables</a:t>
            </a:r>
            <a:endParaRPr sz="4200">
              <a:solidFill>
                <a:schemeClr val="lt1"/>
              </a:solidFill>
            </a:endParaRPr>
          </a:p>
        </p:txBody>
      </p:sp>
      <p:sp>
        <p:nvSpPr>
          <p:cNvPr id="181" name="Google Shape;181;p28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-"/>
            </a:pPr>
            <a:r>
              <a:rPr lang="en" sz="1400">
                <a:solidFill>
                  <a:schemeClr val="lt2"/>
                </a:solidFill>
              </a:rPr>
              <a:t>Observing seasonal(monthly) pattern and fitting new model</a:t>
            </a:r>
            <a:endParaRPr sz="1400">
              <a:solidFill>
                <a:schemeClr val="lt2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-"/>
            </a:pPr>
            <a:r>
              <a:rPr lang="en" sz="1400">
                <a:solidFill>
                  <a:schemeClr val="lt2"/>
                </a:solidFill>
              </a:rPr>
              <a:t>Season: 4 levels → 3 dummy variables</a:t>
            </a:r>
            <a:endParaRPr sz="14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2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1800"/>
              <a:t>The interaction model → avg_wind_speed:season </a:t>
            </a:r>
            <a:r>
              <a:rPr b="1" lang="en" sz="1800"/>
              <a:t>is not significant</a:t>
            </a:r>
            <a:endParaRPr b="1" sz="1800"/>
          </a:p>
        </p:txBody>
      </p:sp>
      <p:sp>
        <p:nvSpPr>
          <p:cNvPr id="187" name="Google Shape;187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88" name="Google Shape;188;p29" title="截屏2025-04-23 22.20.46.png"/>
          <p:cNvPicPr preferRelativeResize="0"/>
          <p:nvPr/>
        </p:nvPicPr>
        <p:blipFill rotWithShape="1">
          <a:blip r:embed="rId3">
            <a:alphaModFix/>
          </a:blip>
          <a:srcRect b="11219" l="-1500" r="1499" t="-1480"/>
          <a:stretch/>
        </p:blipFill>
        <p:spPr>
          <a:xfrm>
            <a:off x="1426675" y="1315475"/>
            <a:ext cx="6290651" cy="3090425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29"/>
          <p:cNvSpPr/>
          <p:nvPr/>
        </p:nvSpPr>
        <p:spPr>
          <a:xfrm>
            <a:off x="6357675" y="3878550"/>
            <a:ext cx="1091700" cy="2277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700"/>
              <a:t>Remove avg_wind_speed:season and refit → avg_humidity:season </a:t>
            </a:r>
            <a:r>
              <a:rPr b="1" lang="en" sz="1700"/>
              <a:t>is not significant</a:t>
            </a:r>
            <a:endParaRPr b="1" sz="1700"/>
          </a:p>
        </p:txBody>
      </p:sp>
      <p:sp>
        <p:nvSpPr>
          <p:cNvPr id="195" name="Google Shape;195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96" name="Google Shape;196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6025" y="1743004"/>
            <a:ext cx="3904375" cy="206554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30" title="截屏2025-04-23 22.28.2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0" y="1724462"/>
            <a:ext cx="4031450" cy="2102625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30"/>
          <p:cNvSpPr/>
          <p:nvPr/>
        </p:nvSpPr>
        <p:spPr>
          <a:xfrm>
            <a:off x="3494450" y="3047024"/>
            <a:ext cx="543300" cy="1419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30"/>
          <p:cNvSpPr/>
          <p:nvPr/>
        </p:nvSpPr>
        <p:spPr>
          <a:xfrm>
            <a:off x="7718775" y="3233724"/>
            <a:ext cx="543300" cy="1419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700"/>
              <a:t>Remove avg_humidity:season and refit → avg_wind_speed </a:t>
            </a:r>
            <a:r>
              <a:rPr b="1" lang="en" sz="1700"/>
              <a:t>is not significant</a:t>
            </a:r>
            <a:endParaRPr b="1" sz="1700"/>
          </a:p>
        </p:txBody>
      </p:sp>
      <p:pic>
        <p:nvPicPr>
          <p:cNvPr id="205" name="Google Shape;205;p31" title="截屏2025-04-24 20.38.16.png"/>
          <p:cNvPicPr preferRelativeResize="0"/>
          <p:nvPr/>
        </p:nvPicPr>
        <p:blipFill rotWithShape="1">
          <a:blip r:embed="rId3">
            <a:alphaModFix/>
          </a:blip>
          <a:srcRect b="21964" l="0" r="0" t="-1116"/>
          <a:stretch/>
        </p:blipFill>
        <p:spPr>
          <a:xfrm>
            <a:off x="2048663" y="1103450"/>
            <a:ext cx="5046666" cy="356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31"/>
          <p:cNvSpPr/>
          <p:nvPr/>
        </p:nvSpPr>
        <p:spPr>
          <a:xfrm>
            <a:off x="5975025" y="3981425"/>
            <a:ext cx="548700" cy="1590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1500"/>
              <a:t>Final</a:t>
            </a:r>
            <a:r>
              <a:rPr lang="en" sz="1500"/>
              <a:t> Model: lm(avg_temp ~ avg_humidity + avg_pressure + season + avg_pressure:season)</a:t>
            </a:r>
            <a:endParaRPr sz="1500"/>
          </a:p>
        </p:txBody>
      </p:sp>
      <p:pic>
        <p:nvPicPr>
          <p:cNvPr id="212" name="Google Shape;212;p32" title="截屏2025-04-23 22.56.4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77100" y="1131312"/>
            <a:ext cx="6389803" cy="2880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3763"/>
        </a:solidFill>
      </p:bgPr>
    </p:bg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33"/>
          <p:cNvSpPr txBox="1"/>
          <p:nvPr>
            <p:ph type="ctrTitle"/>
          </p:nvPr>
        </p:nvSpPr>
        <p:spPr>
          <a:xfrm>
            <a:off x="311700" y="1789575"/>
            <a:ext cx="8520600" cy="100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200">
                <a:solidFill>
                  <a:schemeClr val="lt1"/>
                </a:solidFill>
              </a:rPr>
              <a:t>Model Comparison</a:t>
            </a:r>
            <a:endParaRPr sz="4200">
              <a:solidFill>
                <a:schemeClr val="lt1"/>
              </a:solidFill>
            </a:endParaRPr>
          </a:p>
        </p:txBody>
      </p:sp>
      <p:sp>
        <p:nvSpPr>
          <p:cNvPr id="218" name="Google Shape;218;p3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lt2"/>
                </a:solidFill>
              </a:rPr>
              <a:t>Which model has better result and main takeaway</a:t>
            </a:r>
            <a:endParaRPr sz="1400">
              <a:solidFill>
                <a:schemeClr val="lt2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800"/>
              <a:t>Criterion: RMSE of the model</a:t>
            </a:r>
            <a:endParaRPr sz="3800"/>
          </a:p>
        </p:txBody>
      </p:sp>
      <p:sp>
        <p:nvSpPr>
          <p:cNvPr id="224" name="Google Shape;224;p3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RMSE of </a:t>
            </a:r>
            <a:r>
              <a:rPr b="1" lang="en">
                <a:solidFill>
                  <a:schemeClr val="dk1"/>
                </a:solidFill>
              </a:rPr>
              <a:t>GLS</a:t>
            </a:r>
            <a:r>
              <a:rPr lang="en">
                <a:solidFill>
                  <a:schemeClr val="dk1"/>
                </a:solidFill>
              </a:rPr>
              <a:t> model in training dataset: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S</a:t>
            </a:r>
            <a:r>
              <a:rPr lang="en">
                <a:solidFill>
                  <a:schemeClr val="dk1"/>
                </a:solidFill>
              </a:rPr>
              <a:t>elected </a:t>
            </a:r>
            <a:r>
              <a:rPr b="1" lang="en">
                <a:solidFill>
                  <a:schemeClr val="dk1"/>
                </a:solidFill>
              </a:rPr>
              <a:t>ANCOVA</a:t>
            </a:r>
            <a:r>
              <a:rPr lang="en">
                <a:solidFill>
                  <a:schemeClr val="dk1"/>
                </a:solidFill>
              </a:rPr>
              <a:t> model: avg_temp ~ avg_humidity + avg_pressure + season + avg_pressure:season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225" name="Google Shape;225;p34" title="截屏2025-04-24 20.36.2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847850"/>
            <a:ext cx="6343650" cy="723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34" title="截屏2025-04-24 20.36.4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3921175"/>
            <a:ext cx="7048500" cy="647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800"/>
              <a:t>Takeaway </a:t>
            </a:r>
            <a:endParaRPr sz="3800"/>
          </a:p>
        </p:txBody>
      </p:sp>
      <p:pic>
        <p:nvPicPr>
          <p:cNvPr id="232" name="Google Shape;232;p35"/>
          <p:cNvPicPr preferRelativeResize="0"/>
          <p:nvPr/>
        </p:nvPicPr>
        <p:blipFill rotWithShape="1">
          <a:blip r:embed="rId3">
            <a:alphaModFix/>
          </a:blip>
          <a:srcRect b="0" l="0" r="0" t="2922"/>
          <a:stretch/>
        </p:blipFill>
        <p:spPr>
          <a:xfrm>
            <a:off x="104225" y="1359500"/>
            <a:ext cx="5960602" cy="3131225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35"/>
          <p:cNvSpPr txBox="1"/>
          <p:nvPr>
            <p:ph idx="1" type="body"/>
          </p:nvPr>
        </p:nvSpPr>
        <p:spPr>
          <a:xfrm>
            <a:off x="5715900" y="1074325"/>
            <a:ext cx="31164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</a:pPr>
            <a:r>
              <a:rPr lang="en" sz="1600">
                <a:solidFill>
                  <a:schemeClr val="dk1"/>
                </a:solidFill>
              </a:rPr>
              <a:t>Selected </a:t>
            </a:r>
            <a:r>
              <a:rPr b="1" lang="en" sz="1600">
                <a:solidFill>
                  <a:schemeClr val="dk1"/>
                </a:solidFill>
              </a:rPr>
              <a:t>ANCOVA</a:t>
            </a:r>
            <a:r>
              <a:rPr lang="en" sz="1600">
                <a:solidFill>
                  <a:schemeClr val="dk1"/>
                </a:solidFill>
              </a:rPr>
              <a:t> model has a better predict result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</a:pPr>
            <a:r>
              <a:rPr lang="en" sz="1600">
                <a:solidFill>
                  <a:schemeClr val="dk1"/>
                </a:solidFill>
              </a:rPr>
              <a:t>Model prediction is relatively bad with the </a:t>
            </a:r>
            <a:r>
              <a:rPr b="1" lang="en" sz="1600">
                <a:solidFill>
                  <a:schemeClr val="dk1"/>
                </a:solidFill>
              </a:rPr>
              <a:t>extreme</a:t>
            </a:r>
            <a:r>
              <a:rPr lang="en" sz="1600">
                <a:solidFill>
                  <a:schemeClr val="dk1"/>
                </a:solidFill>
              </a:rPr>
              <a:t> values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</a:pPr>
            <a:r>
              <a:rPr lang="en" sz="1600">
                <a:solidFill>
                  <a:schemeClr val="dk1"/>
                </a:solidFill>
              </a:rPr>
              <a:t>Further </a:t>
            </a:r>
            <a:r>
              <a:rPr b="1" lang="en" sz="1600">
                <a:solidFill>
                  <a:schemeClr val="dk1"/>
                </a:solidFill>
              </a:rPr>
              <a:t>improvement</a:t>
            </a:r>
            <a:r>
              <a:rPr lang="en" sz="1600">
                <a:solidFill>
                  <a:schemeClr val="dk1"/>
                </a:solidFill>
              </a:rPr>
              <a:t>: consider about time series model or finding other dummy variables</a:t>
            </a:r>
            <a:endParaRPr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3763"/>
        </a:solidFill>
      </p:bgPr>
    </p:bg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6"/>
          <p:cNvSpPr txBox="1"/>
          <p:nvPr>
            <p:ph type="ctrTitle"/>
          </p:nvPr>
        </p:nvSpPr>
        <p:spPr>
          <a:xfrm>
            <a:off x="311700" y="1789575"/>
            <a:ext cx="8520600" cy="100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200">
                <a:solidFill>
                  <a:schemeClr val="lt1"/>
                </a:solidFill>
              </a:rPr>
              <a:t>Q &amp; A</a:t>
            </a:r>
            <a:endParaRPr sz="4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